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v3R38ea5cQCFW65gD9gnpo/ms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4325" lvl="3" marL="1828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indent="-314325" lvl="4" marL="22860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indent="-314325" lvl="5" marL="27432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indent="-314325" lvl="6" marL="32004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indent="-314325" lvl="7" marL="3657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indent="-314325" lvl="8" marL="4114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4325" lvl="3" marL="1828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indent="-314325" lvl="4" marL="22860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indent="-314325" lvl="5" marL="27432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indent="-314325" lvl="6" marL="32004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indent="-314325" lvl="7" marL="3657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indent="-314325" lvl="8" marL="4114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4325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4325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UBUS 670: AI Strategy &amp; Agentic Leadership</a:t>
            </a:r>
            <a:endParaRPr/>
          </a:p>
        </p:txBody>
      </p:sp>
      <p:pic>
        <p:nvPicPr>
          <p:cNvPr descr="https://picsum.photos/id/180/1600/900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6600" y="1193800"/>
            <a:ext cx="5130800" cy="28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The Evolution: From User to Architect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2023: The Prompt Era</a:t>
            </a:r>
            <a:r>
              <a:rPr lang="en-US"/>
              <a:t> * </a:t>
            </a:r>
            <a:r>
              <a:rPr b="1" lang="en-US"/>
              <a:t>Role:</a:t>
            </a:r>
            <a:r>
              <a:rPr lang="en-US"/>
              <a:t> User / Operator. * </a:t>
            </a:r>
            <a:r>
              <a:rPr b="1" lang="en-US"/>
              <a:t>Action:</a:t>
            </a:r>
            <a:r>
              <a:rPr lang="en-US"/>
              <a:t> Typing into a chat box. * </a:t>
            </a:r>
            <a:r>
              <a:rPr b="1" lang="en-US"/>
              <a:t>Mental Model:</a:t>
            </a:r>
            <a:r>
              <a:rPr lang="en-US"/>
              <a:t> “AI is a smart search engine.” * </a:t>
            </a:r>
            <a:r>
              <a:rPr b="1" lang="en-US"/>
              <a:t>Output:</a:t>
            </a:r>
            <a:r>
              <a:rPr lang="en-US"/>
              <a:t> Text summaries, emails, basic code. *</a:t>
            </a:r>
            <a:r>
              <a:rPr b="1" lang="en-US"/>
              <a:t> </a:t>
            </a:r>
            <a:r>
              <a:rPr lang="en-US"/>
              <a:t>2026: The Agentic Era</a:t>
            </a:r>
            <a:r>
              <a:rPr b="1" lang="en-US"/>
              <a:t> * </a:t>
            </a:r>
            <a:r>
              <a:rPr lang="en-US"/>
              <a:t>Role:</a:t>
            </a:r>
            <a:r>
              <a:rPr b="1" lang="en-US"/>
              <a:t> Architect / Manager. * </a:t>
            </a:r>
            <a:r>
              <a:rPr lang="en-US"/>
              <a:t>Action:</a:t>
            </a:r>
            <a:r>
              <a:rPr b="1" lang="en-US"/>
              <a:t> Designing workflows &amp; systems. * </a:t>
            </a:r>
            <a:r>
              <a:rPr lang="en-US"/>
              <a:t>Mental Model:</a:t>
            </a:r>
            <a:r>
              <a:rPr b="1" lang="en-US"/>
              <a:t> “AI is a digital employee.” * </a:t>
            </a:r>
            <a:r>
              <a:rPr lang="en-US"/>
              <a:t>Output:** Completed business processes, decisions, and actions.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The “Digital Workforce” Mindset</a:t>
            </a:r>
            <a:endParaRPr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We are no longer using tools; we are </a:t>
            </a:r>
            <a:r>
              <a:rPr b="1" lang="en-US"/>
              <a:t>managing resources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An “Agentic System” is not a chatbot. It is a software entity that can: 1. </a:t>
            </a:r>
            <a:r>
              <a:rPr b="1" lang="en-US"/>
              <a:t>Plan:</a:t>
            </a:r>
            <a:r>
              <a:rPr lang="en-US"/>
              <a:t> Break down complex goals. 2. </a:t>
            </a:r>
            <a:r>
              <a:rPr b="1" lang="en-US"/>
              <a:t>Use Tools:</a:t>
            </a:r>
            <a:r>
              <a:rPr lang="en-US"/>
              <a:t> Search the web, query databases, send emails. 3. </a:t>
            </a:r>
            <a:r>
              <a:rPr b="1" lang="en-US"/>
              <a:t>Persist:</a:t>
            </a:r>
            <a:r>
              <a:rPr lang="en-US"/>
              <a:t> It doesn’t stop until the job is done.</a:t>
            </a:r>
            <a:endParaRPr/>
          </a:p>
        </p:txBody>
      </p:sp>
      <p:pic>
        <p:nvPicPr>
          <p:cNvPr descr="https://picsum.photos/id/2/800/600" id="99" name="Google Shape;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4300" y="1193800"/>
            <a:ext cx="3848100" cy="28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Network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The AI Economic Matrix: Choosing Your Model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Gemini Flash (The Worker)</a:t>
            </a:r>
            <a:r>
              <a:rPr lang="en-US"/>
              <a:t> * </a:t>
            </a:r>
            <a:r>
              <a:rPr b="1" lang="en-US"/>
              <a:t>Cost:</a:t>
            </a:r>
            <a:r>
              <a:rPr lang="en-US"/>
              <a:t> Ultra-low. * </a:t>
            </a:r>
            <a:r>
              <a:rPr b="1" lang="en-US"/>
              <a:t>Speed:</a:t>
            </a:r>
            <a:r>
              <a:rPr lang="en-US"/>
              <a:t> Instant. * </a:t>
            </a:r>
            <a:r>
              <a:rPr b="1" lang="en-US"/>
              <a:t>Use Case:</a:t>
            </a:r>
            <a:r>
              <a:rPr lang="en-US"/>
              <a:t> High-volume, simple tasks (Summarization, data entry, classification). * </a:t>
            </a:r>
            <a:r>
              <a:rPr b="1" lang="en-US"/>
              <a:t>Business Role:</a:t>
            </a:r>
            <a:r>
              <a:rPr lang="en-US"/>
              <a:t> “The Junior Clerk.” *</a:t>
            </a:r>
            <a:r>
              <a:rPr b="1" lang="en-US"/>
              <a:t> </a:t>
            </a:r>
            <a:r>
              <a:rPr lang="en-US"/>
              <a:t>Gemini Pro (The Architect)</a:t>
            </a:r>
            <a:r>
              <a:rPr b="1" lang="en-US"/>
              <a:t> * </a:t>
            </a:r>
            <a:r>
              <a:rPr lang="en-US"/>
              <a:t>Cost:</a:t>
            </a:r>
            <a:r>
              <a:rPr b="1" lang="en-US"/>
              <a:t> Premium. * </a:t>
            </a:r>
            <a:r>
              <a:rPr lang="en-US"/>
              <a:t>Speed:</a:t>
            </a:r>
            <a:r>
              <a:rPr b="1" lang="en-US"/>
              <a:t> Deliberate. * </a:t>
            </a:r>
            <a:r>
              <a:rPr lang="en-US"/>
              <a:t>Use Case:</a:t>
            </a:r>
            <a:r>
              <a:rPr b="1" lang="en-US"/>
              <a:t> Complex reasoning, large context analysis, strategy. * </a:t>
            </a:r>
            <a:r>
              <a:rPr lang="en-US"/>
              <a:t>Business Role:** “The Senior Consultant.”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Augmentation vs. Automation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The Manager’s Decision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Augmentation</a:t>
            </a:r>
            <a:r>
              <a:rPr lang="en-US"/>
              <a:t> (Human-in-the-loop) * AI drafts the email; Human reviews and sends. * </a:t>
            </a:r>
            <a:r>
              <a:rPr b="1" lang="en-US"/>
              <a:t>Goal:</a:t>
            </a:r>
            <a:r>
              <a:rPr lang="en-US"/>
              <a:t> Efficiency.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Automation</a:t>
            </a:r>
            <a:r>
              <a:rPr lang="en-US"/>
              <a:t> (Human-on-the-loop) * AI identifies fraud and triggers an alert. * </a:t>
            </a:r>
            <a:r>
              <a:rPr b="1" lang="en-US"/>
              <a:t>Goal:</a:t>
            </a:r>
            <a:r>
              <a:rPr lang="en-US"/>
              <a:t> Scalability.</a:t>
            </a:r>
            <a:endParaRPr/>
          </a:p>
        </p:txBody>
      </p:sp>
      <p:pic>
        <p:nvPicPr>
          <p:cNvPr descr="https://picsum.photos/id/42/800/600"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4300" y="1193800"/>
            <a:ext cx="3848100" cy="28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The Core Analogy: Intern vs. Consultant</a:t>
            </a:r>
            <a:endParaRPr/>
          </a:p>
        </p:txBody>
      </p:sp>
      <p:sp>
        <p:nvSpPr>
          <p:cNvPr id="120" name="Google Shape;120;p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The Unprepared Intern</a:t>
            </a:r>
            <a:r>
              <a:rPr lang="en-US"/>
              <a:t> * </a:t>
            </a:r>
            <a:r>
              <a:rPr i="1" lang="en-US"/>
              <a:t>Prompt:</a:t>
            </a:r>
            <a:r>
              <a:rPr lang="en-US"/>
              <a:t> “Write a Q3 report.” * </a:t>
            </a:r>
            <a:r>
              <a:rPr i="1" lang="en-US"/>
              <a:t>Input:</a:t>
            </a:r>
            <a:r>
              <a:rPr lang="en-US"/>
              <a:t> Zero context. * </a:t>
            </a:r>
            <a:r>
              <a:rPr i="1" lang="en-US"/>
              <a:t>Result:</a:t>
            </a:r>
            <a:r>
              <a:rPr lang="en-US"/>
              <a:t> Generic template. *</a:t>
            </a:r>
            <a:r>
              <a:rPr b="1" lang="en-US"/>
              <a:t> </a:t>
            </a:r>
            <a:r>
              <a:rPr lang="en-US"/>
              <a:t>The Briefed Consultant** * </a:t>
            </a:r>
            <a:r>
              <a:rPr i="1" lang="en-US"/>
              <a:t>Prompt:</a:t>
            </a:r>
            <a:r>
              <a:rPr lang="en-US"/>
              <a:t> “Using these sales CSVs, write a report on our 15% growth.” * </a:t>
            </a:r>
            <a:r>
              <a:rPr i="1" lang="en-US"/>
              <a:t>Input:</a:t>
            </a:r>
            <a:r>
              <a:rPr lang="en-US"/>
              <a:t> Data + Constraints + Goal. * </a:t>
            </a:r>
            <a:r>
              <a:rPr i="1" lang="en-US"/>
              <a:t>Result:</a:t>
            </a:r>
            <a:r>
              <a:rPr lang="en-US"/>
              <a:t> Finished asset.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Multimodal Reasoning: The “Eyes” of Business</a:t>
            </a:r>
            <a:endParaRPr/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Text is only 20% of corporate data. The rest is visual and auditory.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Multimodality</a:t>
            </a:r>
            <a:r>
              <a:rPr lang="en-US"/>
              <a:t> allows AI to: * </a:t>
            </a:r>
            <a:r>
              <a:rPr b="1" lang="en-US"/>
              <a:t>Operations:</a:t>
            </a:r>
            <a:r>
              <a:rPr lang="en-US"/>
              <a:t> Spot defects in a video stream. * </a:t>
            </a:r>
            <a:r>
              <a:rPr b="1" lang="en-US"/>
              <a:t>Marketing:</a:t>
            </a:r>
            <a:r>
              <a:rPr lang="en-US"/>
              <a:t> Reverse-engineer competitor branding. * </a:t>
            </a:r>
            <a:r>
              <a:rPr b="1" lang="en-US"/>
              <a:t>Finance:</a:t>
            </a:r>
            <a:r>
              <a:rPr lang="en-US"/>
              <a:t> Ingest 10 years of physical ledger scans.</a:t>
            </a:r>
            <a:endParaRPr/>
          </a:p>
        </p:txBody>
      </p:sp>
      <p:pic>
        <p:nvPicPr>
          <p:cNvPr descr="https://picsum.photos/id/60/800/600"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4300" y="1193800"/>
            <a:ext cx="3848100" cy="28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Eye Technology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Governance: The Manager’s Audit</a:t>
            </a:r>
            <a:endParaRPr/>
          </a:p>
        </p:txBody>
      </p:sp>
      <p:sp>
        <p:nvSpPr>
          <p:cNvPr id="134" name="Google Shape;134;p8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Risk Management</a:t>
            </a:r>
            <a:r>
              <a:rPr lang="en-US"/>
              <a:t> * </a:t>
            </a:r>
            <a:r>
              <a:rPr b="1" lang="en-US"/>
              <a:t>Explainability:</a:t>
            </a:r>
            <a:r>
              <a:rPr lang="en-US"/>
              <a:t> Can the AI show its work? * </a:t>
            </a:r>
            <a:r>
              <a:rPr b="1" lang="en-US"/>
              <a:t>Grounding:</a:t>
            </a:r>
            <a:r>
              <a:rPr lang="en-US"/>
              <a:t> Is it anchored in facts or training patterns? *</a:t>
            </a:r>
            <a:r>
              <a:rPr b="1" lang="en-US"/>
              <a:t> </a:t>
            </a:r>
            <a:r>
              <a:rPr lang="en-US"/>
              <a:t>The Audit Checklist** 1. Verify the source data. 2. Test for bias in high-stakes decisions. 3. Identify “Agentic Drift” (the AI deviating from the goal).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90-Day AI Roadmap</a:t>
            </a:r>
            <a:endParaRPr/>
          </a:p>
        </p:txBody>
      </p:sp>
      <p:sp>
        <p:nvSpPr>
          <p:cNvPr id="140" name="Google Shape;140;p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Month 1: Identification</a:t>
            </a:r>
            <a:r>
              <a:rPr lang="en-US"/>
              <a:t> Audit “Legacy” tasks for multimodal potential.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Month 2: Context Engineering</a:t>
            </a:r>
            <a:r>
              <a:rPr lang="en-US"/>
              <a:t> Build the “Briefing Folders” (Grounding data).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Month 3: Agentic Pilot</a:t>
            </a:r>
            <a:r>
              <a:rPr lang="en-US"/>
              <a:t> Launch one single-agent workflow with human oversight.</a:t>
            </a:r>
            <a:endParaRPr/>
          </a:p>
        </p:txBody>
      </p:sp>
      <p:pic>
        <p:nvPicPr>
          <p:cNvPr descr="https://picsum.photos/id/30/800/600" id="141" name="Google Shape;1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4300" y="1193800"/>
            <a:ext cx="3848100" cy="28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9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2026-01-28T05:40:14Z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